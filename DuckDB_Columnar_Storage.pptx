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(s)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B3-4434-8A40-37A2BF1077BE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B3-4434-8A40-37A2BF1077BE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B3-4434-8A40-37A2BF1077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SELECT *</c:v>
                </c:pt>
                <c:pt idx="1">
                  <c:v>AVG(salary)</c:v>
                </c:pt>
                <c:pt idx="2">
                  <c:v>GROUP BY dept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0.12</c:v>
                </c:pt>
                <c:pt idx="2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FB3-4434-8A40-37A2BF1077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scan</c:v>
                </c:pt>
              </c:strCache>
            </c:strRef>
          </c:tx>
          <c:spPr>
            <a:ln w="31750" cap="flat">
              <a:solidFill>
                <a:srgbClr val="1B6C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6CA8"/>
              </a:solidFill>
              <a:ln w="9525" cap="flat">
                <a:solidFill>
                  <a:srgbClr val="1B6CA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0.1M</c:v>
                </c:pt>
                <c:pt idx="1">
                  <c:v>0.5M</c:v>
                </c:pt>
                <c:pt idx="2">
                  <c:v>1M</c:v>
                </c:pt>
                <c:pt idx="3">
                  <c:v>2.5M</c:v>
                </c:pt>
                <c:pt idx="4">
                  <c:v>5M</c:v>
                </c:pt>
                <c:pt idx="5">
                  <c:v>10M</c:v>
                </c:pt>
                <c:pt idx="6">
                  <c:v>25M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8.0000000000000002E-3</c:v>
                </c:pt>
                <c:pt idx="1">
                  <c:v>3.2000000000000001E-2</c:v>
                </c:pt>
                <c:pt idx="2">
                  <c:v>4.4999999999999998E-2</c:v>
                </c:pt>
                <c:pt idx="3">
                  <c:v>0.11</c:v>
                </c:pt>
                <c:pt idx="4">
                  <c:v>0.19</c:v>
                </c:pt>
                <c:pt idx="5">
                  <c:v>0.38</c:v>
                </c:pt>
                <c:pt idx="6">
                  <c:v>1.05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7E-4C9A-851D-DE259F555A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756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🦆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Storage Engine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45720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337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( DS614) | Group: Data Riders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Pramanik  •  Jinal Sasiya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1828800" cy="182880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OLAP
</a:t>
            </a:r>
            <a:r>
              <a:rPr lang="en-US" sz="1100" dirty="0">
                <a:solidFill>
                  <a:srgbClr val="A0C4D8"/>
                </a:solidFill>
              </a:rPr>
              <a:t>Columnar
Vectorized
In-Process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with Row-Oriented Databases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AVG(salary) FROM employees;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31920" cy="292608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393192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916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Row Storage (MySQL / PostgreSQL)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columns: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age, dept, salary, id …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only salary is needed!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Wastes 80–95% of I/O bandwidth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Loads unnecessary data into RAM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Slows down analytical queries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3931920" cy="292608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9164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916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Columnar Storage (DuckDB)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1945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 salary column: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salary salary salary …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the query needs!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5–20× less I/O than row stores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Excellent compression per column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SIMD / vectorized execution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DuckDB?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🏗️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Embedded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needed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your process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OLAP Focus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2103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engine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🐍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17720" y="1737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Multi-Language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2103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R, Java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WASM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96012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66560" y="1737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Vectorized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103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 rows/batch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acceleration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DuckDB vs Other Databases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83280"/>
          <a:ext cx="7498080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DuckDB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 + OLAP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Exec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Multi-thread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thread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TOAST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 Architecture — 6-Layer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56692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PARSER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91440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 Abstract Syntax Tree  |  src/parser/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6576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572768"/>
            <a:ext cx="8503920" cy="56692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7276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BINDER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572768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columns, types, tables  |  src/planner/binder/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2121408"/>
            <a:ext cx="36576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231136"/>
            <a:ext cx="8503920" cy="56692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3113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OPTIMIZER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231136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pruning, filter pushdown, join ordering  |  src/optimizer/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2779776"/>
            <a:ext cx="36576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889504"/>
            <a:ext cx="8503920" cy="566928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950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PHYSICAL PLANNER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889504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physical operators  |  src/execution/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3438144"/>
            <a:ext cx="36576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3547872"/>
            <a:ext cx="8503920" cy="56692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4787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EXECUTION 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547872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Vectorized, 2048 rows/batch, pipeline  |  src/execution/operator/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4096512"/>
            <a:ext cx="36576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4206240"/>
            <a:ext cx="8503920" cy="56692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STORAGE ENGINE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420624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Groups → Column Segments → Compressed Blocks  |  src/storage/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Execution Path — INSERT (Write)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9264"/>
            <a:ext cx="384048" cy="38404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69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Parser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1704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src/parser/parser.cpp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" y="1353312"/>
            <a:ext cx="73152" cy="11887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527048"/>
            <a:ext cx="384048" cy="38404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527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4721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Binder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172821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src/planner/binder/statement/bind_insert.cpp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" y="1911096"/>
            <a:ext cx="73152" cy="11887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084832"/>
            <a:ext cx="384048" cy="38404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2029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PhysicalInsert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22860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src/execution/operator/persistent/physical_insert.cpp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" y="2468880"/>
            <a:ext cx="73152" cy="11887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642616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642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2587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DataTable::Append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" y="28437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src/storage/data_table.cpp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" y="3026664"/>
            <a:ext cx="73152" cy="11887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20040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RowGroup::Append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34015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src/storage/row_group.cpp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" y="3584448"/>
            <a:ext cx="73152" cy="11887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3758184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758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ColumnData::Append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" y="39593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src/storage/column_data.cpp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" y="4142232"/>
            <a:ext cx="73152" cy="11887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4315968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315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04672" y="4261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WAL + Checkpoint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4672" y="45171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src/storage/wal/write_ahead_log.cpp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43600" y="914400"/>
            <a:ext cx="2926080" cy="329184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3504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💡 Key Insight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035040" y="13716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Group Size:
</a:t>
            </a:r>
            <a:r>
              <a:rPr lang="en-US" sz="11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122,880 rows per group
</a:t>
            </a: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Segment:
</a:t>
            </a:r>
            <a:r>
              <a:rPr lang="en-US" sz="11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KB blocks
</a:t>
            </a: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First:
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Write-Ahead Log ensures
crash recovery
</a:t>
            </a:r>
            <a:r>
              <a:rPr lang="en-US" sz="11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insert is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batch-optimized,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row-by-row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0" y="4297680"/>
            <a:ext cx="292608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42976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Data persisted safely to .duckdb file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Execution Path — SELECT (Read)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5029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686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department, AVG(salary) FROM employees WHERE age &gt; 40 GROUP BY department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43200" cy="27432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2743200" cy="3657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Optimizer: Column Pruning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src/optimizer/column_lifetime_optimizer.cpp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 {salary, department, age}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Ignores: id, name, etc.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743200" cy="27432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508760"/>
            <a:ext cx="2743200" cy="36576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Optimizer: Filter Pushdown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src/optimizer/filter_pushdown.cpp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37560" y="224028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pushed to scan level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Row Groups where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max(age) &lt; 40 (zone maps)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2743200" cy="27432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2743200" cy="36576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Optimizer: Hash Aggregation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src/execution/operator/aggregate/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63640" y="224028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uses hash 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= SUM / COUNT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Vectorized: 2048 rows/batch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Only 3 of N columns read from disk — massive I/O saving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Decision 1 — Columnar Row Groups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144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Row Group (122,880 rows)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609344" cy="182880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2588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2880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14884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46888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78892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0040" y="312724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compressed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20824" y="1325880"/>
            <a:ext cx="1609344" cy="1828800"/>
          </a:xfrm>
          <a:prstGeom prst="rect">
            <a:avLst/>
          </a:prstGeom>
          <a:solidFill>
            <a:srgbClr val="9B59B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20824" y="132588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name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VARCHAR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12264" y="182880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112264" y="182880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112264" y="214884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112264" y="214884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12264" y="246888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12264" y="246888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112264" y="278892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112264" y="278892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020824" y="312724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compressed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721608" y="1325880"/>
            <a:ext cx="1609344" cy="18288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21608" y="132588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salary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13048" y="182880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813048" y="182880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813048" y="214884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13048" y="214884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813048" y="246888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813048" y="246888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813048" y="278892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813048" y="278892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721608" y="312724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compressed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22392" y="1325880"/>
            <a:ext cx="1609344" cy="182880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22392" y="132588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VARCHAR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13832" y="182880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513832" y="182880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513832" y="214884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513832" y="214884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513832" y="246888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513832" y="246888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513832" y="278892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513832" y="278892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422392" y="312724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compressed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123176" y="1325880"/>
            <a:ext cx="1609344" cy="1828800"/>
          </a:xfrm>
          <a:prstGeom prst="rect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123176" y="132588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TINYINT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214616" y="182880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214616" y="182880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214616" y="214884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214616" y="214884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214616" y="246888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214616" y="246888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214616" y="2788920"/>
            <a:ext cx="1426464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214616" y="278892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256KB block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123176" y="312724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compressed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020824" y="1316736"/>
            <a:ext cx="1609344" cy="1874520"/>
          </a:xfrm>
          <a:prstGeom prst="rect">
            <a:avLst/>
          </a:prstGeom>
          <a:solidFill>
            <a:srgbClr val="F59E0B">
              <a:alpha val="20000"/>
            </a:srgbClr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20824" y="329184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✅ Query reads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ONLY this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column!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" y="3886200"/>
            <a:ext cx="8503920" cy="105156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Code References: </a:t>
            </a: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src/storage/row_group.cpp  •  src/storage/column_data.cpp  •  src/storage/column_segment.cpp
</a:t>
            </a: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Tradeoff: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are expensive (N columns written per row). DuckDB is optimized for READ-heavy OLAP workloads.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Decision 2 — Per-Column Compression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64592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645920" cy="8229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Run-Length Encoding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A8"/>
                </a:solidFill>
              </a:rPr>
              <a:t>File: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rle.cpp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A8"/>
                </a:solidFill>
              </a:rPr>
              <a:t>Example: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514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A,A,A,A,B,B → (A×4),(B×2)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3154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A8"/>
                </a:solidFill>
              </a:rPr>
              <a:t>Best for: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3337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/ repeated values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57400" y="914400"/>
            <a:ext cx="164592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57400" y="914400"/>
            <a:ext cx="1645920" cy="82296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914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BIT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5740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Bitpacking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48840" y="18288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6655"/>
                </a:solidFill>
              </a:rPr>
              <a:t>File: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4884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bitpacking.cpp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48840" y="23317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6655"/>
                </a:solidFill>
              </a:rPr>
              <a:t>Example: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48840" y="2514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0,1,2,3 → 2 bits each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48840" y="3154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6655"/>
                </a:solidFill>
              </a:rPr>
              <a:t>Best for: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48840" y="3337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integers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94760" y="914400"/>
            <a:ext cx="164592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94760" y="914400"/>
            <a:ext cx="1645920" cy="82296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914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DICT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9476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Dictionary Encoding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86200" y="18288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3C98"/>
                </a:solidFill>
              </a:rPr>
              <a:t>File: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8620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dictionary.cpp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86200" y="23317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3C98"/>
                </a:solidFill>
              </a:rPr>
              <a:t>Example: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86200" y="2514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'India'×1000 → [India=0] 0,0,0…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86200" y="3154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3C98"/>
                </a:solidFill>
              </a:rPr>
              <a:t>Best for: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86200" y="3337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Low-cardinality strings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32120" y="914400"/>
            <a:ext cx="164592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32120" y="914400"/>
            <a:ext cx="1645920" cy="82296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914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FSST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3212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Fast Static Symbol Table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623560" y="18288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22B21"/>
                </a:solidFill>
              </a:rPr>
              <a:t>File: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2356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fsst.cpp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23560" y="23317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22B21"/>
                </a:solidFill>
              </a:rPr>
              <a:t>Example: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23560" y="2514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substrings compressed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23560" y="3154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22B21"/>
                </a:solidFill>
              </a:rPr>
              <a:t>Best for: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23560" y="3337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 strings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69480" y="914400"/>
            <a:ext cx="164592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269480" y="914400"/>
            <a:ext cx="1645920" cy="822960"/>
          </a:xfrm>
          <a:prstGeom prst="rect">
            <a:avLst/>
          </a:prstGeom>
          <a:solidFill>
            <a:srgbClr val="784212"/>
          </a:solidFill>
          <a:ln/>
        </p:spPr>
      </p:sp>
      <p:sp>
        <p:nvSpPr>
          <p:cNvPr id="46" name="Text 44"/>
          <p:cNvSpPr/>
          <p:nvPr/>
        </p:nvSpPr>
        <p:spPr>
          <a:xfrm>
            <a:off x="7269480" y="914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CHIMP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26948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Chimp / Patas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360920" y="18288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84212"/>
                </a:solidFill>
              </a:rPr>
              <a:t>File: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6092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chimp.cpp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60920" y="23317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84212"/>
                </a:solidFill>
              </a:rPr>
              <a:t>Example: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360920" y="2514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delta between floats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60920" y="3154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84212"/>
                </a:solidFill>
              </a:rPr>
              <a:t>Best for: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60920" y="3337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series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DuckDB auto-selects the best algorithm per column.  Tradeoff: CPU decompression overhead, but less I/O = net faster.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Decision 3 — Vectorized Execution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840480" cy="292608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384048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Volcano / Tuple-at-a-Time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row:
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Aggregate.next()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Filter.next()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Scan.next()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Read 1 row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function call per row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rows = N function calls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CPU cache reuse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83480" y="914400"/>
            <a:ext cx="3840480" cy="292608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914400"/>
            <a:ext cx="38404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Vectorized (DuckDB)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VECTOR of 2,048 rows:
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vector of 2048 values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→ SIMD mask applied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→ sum 2048 at once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2048× less function call overhead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 CPU L1/L2 cache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SIMD: 8-16 ops per CPU cycle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77640" y="1920240"/>
            <a:ext cx="640080" cy="64008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13" name="Text 11"/>
          <p:cNvSpPr/>
          <p:nvPr/>
        </p:nvSpPr>
        <p:spPr>
          <a:xfrm>
            <a:off x="39776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977640"/>
            <a:ext cx="8503920" cy="50292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Code: src/common/vector.cpp  •  src/common/vector_operations/  •  src/execution/operator/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Result: 5–10× faster than tuple-at-a-time for analytical workloads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Mapping — Class Concepts in DuckDB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98755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Columnar Storage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618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src/storage/column_data.cpp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stored separately in ColumnData objects inside RowGroups. Only queried columns read from disk.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28032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🗜️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49240" y="98755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Compression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12618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src/storage/compression/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34924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RLE, Bitpacking, Dictionary, FSST, Chimp — auto-selected per column. Reduces I/O dramatically.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96596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20391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Write-Ahead Log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3134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src/storage/wal/write_ahead_log.cpp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2514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writes go to WAL first. On crash, WAL is replayed. Guarantees durability and crash recovery.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49240" y="20391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MVCC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23134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src/transaction/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49240" y="2514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Multi-Version Concurrency Control: readers don't block writers. Each transaction sees a consistent snapshot.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01752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3192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" y="30906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Partitioning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3649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src/storage/row_group.cpp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14400" y="3566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Groups act as horizontal partitions. Zone maps (min/max) per partition enable predicate pushdown.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28032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49240" y="30906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Execution DAG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33649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src/execution/operator/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349240" y="3566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 is a DAG of physical operators. Pipelines execute stage by stage with morsel-driven parallelism.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406908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93192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14400" y="41422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Buffer Pool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44165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src/storage/buffer/buffer_manager.cpp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14400" y="4617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buffer manager evicts cold blocks. Hot blocks stay in memory for repeated scans.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406908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28032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349240" y="41422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Statistics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49240" y="44165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src/storage/table_statistics.cpp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349240" y="4617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maps store min/max per column per Row Group. Optimizer skips Row Groups that cannot match WHERE clause.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Experiments — Setup &amp;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18872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9875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Column vs Full Scan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rows, 5 cols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AVG(salary) = 7× faster than SELECT *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206240" cy="118872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051560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9875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Compression Effectiveness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40680" y="12984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rows, 5 data types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1572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Low-cardinality strings → 5–10× smaller files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4206240" cy="118872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2677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Scalability (100K → 25M rows)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" y="2578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 test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8529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Query time grows linearly — no superlinear blowup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4206240" cy="118872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331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22677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Data Skew Analysis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40680" y="2578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rows, 4 departments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28529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Hash-based GROUP BY handles skew gracefully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474720"/>
            <a:ext cx="4206240" cy="118872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3547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Write Performance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05840" y="38587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sizes 1K → 500K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1330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DuckDB optimized for large batch inserts, not row-by-row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474720"/>
            <a:ext cx="4206240" cy="118872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611880"/>
            <a:ext cx="457200" cy="457200"/>
          </a:xfrm>
          <a:prstGeom prst="ellipse">
            <a:avLst/>
          </a:prstGeom>
          <a:solidFill>
            <a:srgbClr val="922B21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0680" y="3547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EXPLAIN ANALYZE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40680" y="38587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rows, 3 columns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41330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Physical plan shows column pruning + filter pushdown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 Results — Key Numbers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Exp 1: Scan Performance (10M rows)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234440"/>
          <a:ext cx="47548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3017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Exp 3: Scalability (linear growth)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320040" y="3337560"/>
          <a:ext cx="475488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21208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Exp 2: Compression by Data Type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280160"/>
          <a:ext cx="3657600" cy="208483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3C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3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strings ['A','B','C']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sequence 0..N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same value (42)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floats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 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UUIDs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 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212080" y="3383280"/>
            <a:ext cx="3657600" cy="1508760"/>
          </a:xfrm>
          <a:prstGeom prst="rect">
            <a:avLst/>
          </a:prstGeom>
          <a:solidFill>
            <a:srgbClr val="FDF2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349240" y="3474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3C98"/>
                </a:solidFill>
              </a:rPr>
              <a:t>💡 Key Takeaways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349240" y="38404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Columnar layout gives 7× scan speedup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Compression reduces file size by 2–18×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DuckDB scales linearly with data size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BY handles data skew well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Failure Analysis — When DuckDB Breaks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965960"/>
          </a:xfrm>
          <a:prstGeom prst="rect">
            <a:avLst/>
          </a:prstGeom>
          <a:solidFill>
            <a:srgbClr val="FF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2062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✍️ Write-Heavy Workloads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Cause: 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insert writes to N column segments simultaneously. No row-level write optimization.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ColumnData::Append() — src/storage/column_data.cpp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When: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streams, e-commerce transactions, real-time OLTP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4505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Fix: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24505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PostgreSQL or Kafka + batch load into DuckDB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206240" cy="1965960"/>
          </a:xfrm>
          <a:prstGeom prst="rect">
            <a:avLst/>
          </a:prstGeom>
          <a:solidFill>
            <a:srgbClr val="FF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14400"/>
            <a:ext cx="42062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🔤 High-Cardinality Strings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325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Cause: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40680" y="13258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encoding degrades to raw storage when every value is unique (emails, UUIDs).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src/storage/compression/dictionary.cpp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0" y="20574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When: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9496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with user-generated unique text content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4505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Fix: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57800" y="24505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integer surrogate keys. FSST handles this better.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971800"/>
            <a:ext cx="4206240" cy="1965960"/>
          </a:xfrm>
          <a:prstGeom prst="rect">
            <a:avLst/>
          </a:prstGeom>
          <a:solidFill>
            <a:srgbClr val="FF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71800"/>
            <a:ext cx="42062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971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🔗 Large Multi-Table Joins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3832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Cause: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join builds full table in memory. No distributed join across nodes.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38404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src/execution/operator/join/physical_hash_join.cpp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1480" y="41148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When: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6012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billion-row tables without sufficient RAM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45079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Fix: 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45079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Spark, Trino, or BigQuery for distributed joins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971800"/>
            <a:ext cx="4206240" cy="1965960"/>
          </a:xfrm>
          <a:prstGeom prst="rect">
            <a:avLst/>
          </a:prstGeom>
          <a:solidFill>
            <a:srgbClr val="FF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71800"/>
            <a:ext cx="42062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971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🔒 Multiple Concurrent Writers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33832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Cause: 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40680" y="33832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uses file-level exclusive locking. Only 1 writer at a time per .duckdb file.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38404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src/storage/storage_lock.cpp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46320" y="41148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When: 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Multi-process ETL, web server parallel writes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45079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Fix: 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57800" y="45079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MotherDuck (cloud DuckDB) or PostgreSQL for concurrent writes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&amp; Proposed Improvements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97764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💡 What We Learned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storage alone isn't enough — gains come from columnar + compression + vectorization + zone maps working together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is a query optimizer — less data on disk = less I/O = faster queries even with CPU decompression cost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DuckDB's sweet spot is local analytics on datasets up to a few hundred GB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41985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Groups are the key abstraction enabling parallelism, pruning, and compression boundaries simultaneously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07822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execution provides 5–10× speedup on analytical queries vs tuple-at-a-time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397764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</a:rPr>
              <a:t>🚀 Proposed Improvements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Multi-Node Distribution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682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consensus + distributed query planning for TB-scale datasets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Adaptive Compression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340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algorithm selection at load time per column statistics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761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Concurrent Write Support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999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locking or MVCC write batching for parallel ETL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34198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Tiered Storage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Auto-migrate cold Row Groups to object storage (S3/GCS)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40782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HTAP Mode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315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store for recent inserts, auto-migrate to column store after N minutes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Viva Preparation — Expected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321040" cy="7772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926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Q: Why columnar over row storage?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Analytical queries scan few columns across millions of rows. Columnar reads only needed columns → 5–20× less I/O. Row stores read all columns even for single-column aggregations.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8321040" cy="7772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Q: What alternatives exist?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Row: PostgreSQL. Hybrid (PAX): SQL Server. LSM-tree: RocksDB. Distributed: Spark/Hive. Cloud OLAP: BigQuery, Redshift.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8321040" cy="7772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651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Q: What breaks in real-world use?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169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Write-heavy workloads, highly random data (compression fails), very large multi-table joins, concurrent multi-process writes.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8321040" cy="7772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4930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Q: How would you improve DuckDB?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75818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Add multi-node support, adaptive compression, HTAP mode (row + column layer), tiered storage to S3, better concurrent write support.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279392"/>
            <a:ext cx="8321040" cy="7772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433425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Q: What is a Row Group?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5994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DuckDB's horizontal partition of 122,880 rows. Contains zone maps (min/max) per column for predicate pushdown, and stores each column separately.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25" y="0"/>
            <a:ext cx="22860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🦆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— Columnar Storage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41148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C4D8"/>
                </a:solidFill>
              </a:rPr>
              <a:t>Group: Data Riders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C4D8"/>
                </a:solidFill>
              </a:rPr>
              <a:t>Kunal Pramanik  •  Jinal Sasiya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914400"/>
            <a:ext cx="731520" cy="73152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4068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C4D8"/>
                </a:solidFill>
              </a:rPr>
              <a:t>Design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0C4D8"/>
                </a:solidFill>
              </a:rPr>
              <a:t>Decisions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355080" y="914400"/>
            <a:ext cx="731520" cy="73152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C4D8"/>
                </a:solidFill>
              </a:rPr>
              <a:t>Class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0C4D8"/>
                </a:solidFill>
              </a:rPr>
              <a:t>Concepts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223760" y="914400"/>
            <a:ext cx="731520" cy="73152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C4D8"/>
                </a:solidFill>
              </a:rPr>
              <a:t>Experiments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0C4D8"/>
                </a:solidFill>
              </a:rPr>
              <a:t>Run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92440" y="914400"/>
            <a:ext cx="731520" cy="73152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C4D8"/>
                </a:solidFill>
              </a:rPr>
              <a:t>Failure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0C4D8"/>
                </a:solidFill>
              </a:rPr>
              <a:t>Scenarios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FA5"/>
                </a:solidFill>
              </a:rPr>
              <a:t>github.com/duckdb/duckdb  •  duckdb.org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2120</Words>
  <Application>Microsoft Office PowerPoint</Application>
  <PresentationFormat>On-screen Show (16:9)</PresentationFormat>
  <Paragraphs>403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DuckDB – Columnar Storage</dc:title>
  <dc:subject>PptxGenJS Presentation</dc:subject>
  <dc:creator>Kunal Pramanik &amp; Jinal Sasiya</dc:creator>
  <cp:lastModifiedBy>Kunal Pramanik</cp:lastModifiedBy>
  <cp:revision>3</cp:revision>
  <dcterms:created xsi:type="dcterms:W3CDTF">2026-04-23T16:53:49Z</dcterms:created>
  <dcterms:modified xsi:type="dcterms:W3CDTF">2026-04-23T17:18:45Z</dcterms:modified>
</cp:coreProperties>
</file>